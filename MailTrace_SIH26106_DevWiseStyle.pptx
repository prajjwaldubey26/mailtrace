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Calibri"/>
              </a:rPr>
              <a:t/>
            </a:r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Problem Statement ID – SIH26106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Problem Statement Title – AI-Powered Email Threat Detection, GeoLocation and Forensic Intelligence Platform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Theme – Blockchain &amp;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Team ID – [Fill from SIH portal]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Team Name (Registered on portal) – prajjwaldubey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88000" y="18288000"/>
            <a:ext cx="10972800" cy="1143000"/>
          </a:xfrm>
        </p:spPr>
        <p:txBody>
          <a:bodyPr/>
          <a:lstStyle/>
          <a:p>
            <a:pPr eaLnBrk="1" hangingPunct="1"/>
            <a:r>
              <a:rPr lang="en-US" sz="1000" b="0" dirty="0">
                <a:solidFill>
                  <a:srgbClr val="1A1A1A"/>
                </a:solidFill>
                <a:latin typeface="Calibri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88000" y="18288000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 b="1">
                <a:solidFill>
                  <a:srgbClr val="1A1A1A"/>
                </a:solidFill>
                <a:latin typeface="Calibri"/>
              </a:rPr>
              <a:t>prajjwaldubey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mailtrace_fav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09728"/>
            <a:ext cx="777240" cy="777240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5943600" y="201168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Times New Roman"/>
              </a:rPr>
              <a:t>MailTrace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20040" y="1051560"/>
            <a:ext cx="566928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DB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457200" y="114300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Times New Roman"/>
              </a:rPr>
              <a:t>Proposed Solution: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Develop a comprehensive web platform that analyses original emails (paste or .eml upload), focusing on improving institutional email security through technology.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Features include SPF/DKIM/DMARC checks, scam-language cues, lookalike domain spotting, hop-path geolocation, explainable risk score, and a downloadable forensic PDF.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Times New Roman"/>
              </a:rPr>
              <a:t>Detection, Trace &amp; Forensics: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• Threat Scoring: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Integration of authentication stamps with content cues; identifies trends and labels legitimate / suspicious / impersonated / phishing / fraud.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• Path Mapping: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Rebuilds the Received-header chain and plots public IPs with city, country, and ISP.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• Case Vault: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Digital case store with file fingerprint, minimising rework and promoting shared review across SOC/admin teams.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172200" y="1051560"/>
            <a:ext cx="566928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DB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6309360" y="1143000"/>
            <a:ext cx="5394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Times New Roman"/>
              </a:rPr>
              <a:t>How it Addresses the Problem: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• Detection Engine: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Spots phishing, BEC, and spoofed mail using headers + body patterns, helping institutes catch fraud before users click.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• GeoLocation Module: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Shows where mail servers sat along the path — useful for investigation without naming a person’s home address.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• Forensic Report: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Ready PDF with score, reasons, stamps, and map for tickets and incident response.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6172200" y="3520440"/>
            <a:ext cx="56692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DB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6309360" y="3611880"/>
            <a:ext cx="5394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Times New Roman"/>
              </a:rPr>
              <a:t>Innovation and Uniqueness: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End-to-end flow: detection + map + PDF in one laptop tool.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Explainable score — every point has a written reason.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Honest geo: mail servers / ISP only, not personal identity.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Works on real Gmail “Show original” and .eml files.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Graph of domains, IPs, and clues for campaign-style review.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No mailbox login; user pastes the mail they already received.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Chain-of-custody fingerprint for investigative integrity.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solidFill>
                  <a:srgbClr val="1A1A1A"/>
                </a:solidFill>
                <a:latin typeface="Georgia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88000" y="18288000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 b="1">
                <a:solidFill>
                  <a:srgbClr val="1A1A1A"/>
                </a:solidFill>
                <a:latin typeface="Calibri"/>
              </a:rPr>
              <a:t>prajjwaldubey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28600" y="1051560"/>
            <a:ext cx="585216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DB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6263640" y="1051560"/>
            <a:ext cx="566928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DB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863840" y="114300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Georgia"/>
              </a:rPr>
              <a:t>Tech-Stack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8366760" y="1417320"/>
            <a:ext cx="1463040" cy="274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5" name="Picture 17414" descr="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143000"/>
            <a:ext cx="5669280" cy="4892040"/>
          </a:xfrm>
          <a:prstGeom prst="rect">
            <a:avLst/>
          </a:prstGeom>
        </p:spPr>
      </p:pic>
      <p:pic>
        <p:nvPicPr>
          <p:cNvPr id="17416" name="Picture 17415" descr="techst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508760"/>
            <a:ext cx="54864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solidFill>
                  <a:srgbClr val="1A1A1A"/>
                </a:solidFill>
                <a:latin typeface="Georgia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88000" y="18288000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 b="1">
                <a:solidFill>
                  <a:srgbClr val="1A1A1A"/>
                </a:solidFill>
                <a:latin typeface="Calibri"/>
              </a:rPr>
              <a:t>prajjwaldubey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56032" y="960120"/>
            <a:ext cx="598932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DB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256032" y="3749039"/>
            <a:ext cx="598932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DB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6400800" y="960120"/>
            <a:ext cx="548640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DB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320040" y="987552"/>
            <a:ext cx="5852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Times New Roman"/>
              </a:rPr>
              <a:t>Feasibility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2697480" y="1261872"/>
            <a:ext cx="1097280" cy="228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6" name="Picture 17415" descr="feasi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325880"/>
            <a:ext cx="5806440" cy="219456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320040" y="3767328"/>
            <a:ext cx="5852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Times New Roman"/>
              </a:rPr>
              <a:t>Challenges and Risks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240280" y="4041648"/>
            <a:ext cx="2011680" cy="228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challeng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114800"/>
            <a:ext cx="5669280" cy="201168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6446520" y="987552"/>
            <a:ext cx="5394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Times New Roman"/>
              </a:rPr>
              <a:t>Overcoming Challenges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7726679" y="1261872"/>
            <a:ext cx="2834640" cy="228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2" name="Picture 17421" descr="overco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1325880"/>
            <a:ext cx="530352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solidFill>
                  <a:srgbClr val="1A1A1A"/>
                </a:solidFill>
                <a:latin typeface="Georgia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88000" y="18288000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 b="1">
                <a:solidFill>
                  <a:srgbClr val="1A1A1A"/>
                </a:solidFill>
                <a:latin typeface="Calibri"/>
              </a:rPr>
              <a:t>prajjwaldubey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74320" y="1051560"/>
            <a:ext cx="580644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DB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6263640" y="1051560"/>
            <a:ext cx="562356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DB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1143000"/>
            <a:ext cx="5532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Times New Roman"/>
              </a:rPr>
              <a:t>Potential Impact on the Target Audience: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Improved threat awareness and faster triage of fake dean, GST, invoice, and internship-scam mail for college / institute SOC and IT admin.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Empowerment of students and staff with a clear “do not pay / click” vs “looks legitimate” view.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Enhanced readiness for CERT-style review of a single suspicious message without reading raw headers by hand.</a:t>
            </a:r>
          </a:p>
        </p:txBody>
      </p:sp>
      <p:pic>
        <p:nvPicPr>
          <p:cNvPr id="17414" name="Picture 17413" descr="lens_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46120"/>
            <a:ext cx="5394960" cy="2651760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6400800" y="1143000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Times New Roman"/>
              </a:rPr>
              <a:t>Benefits of the Solution: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Social: Bridges the gap between spam filters and real investigation; promotes safer campus email use.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Economic: Cuts fraud loss and analyst time per ticket; PDF supports internal records.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Environmental: Reduces paper usage with digital forensic reports.</a:t>
            </a:r>
          </a:p>
        </p:txBody>
      </p:sp>
      <p:pic>
        <p:nvPicPr>
          <p:cNvPr id="17416" name="Picture 17415" descr="lens_benefi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246120"/>
            <a:ext cx="5257800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solidFill>
                  <a:srgbClr val="1A1A1A"/>
                </a:solidFill>
                <a:latin typeface="Georgia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88000" y="18288000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 b="1">
                <a:solidFill>
                  <a:srgbClr val="1A1A1A"/>
                </a:solidFill>
                <a:latin typeface="Calibri"/>
              </a:rPr>
              <a:t>prajjwaldubey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6080760" y="1188720"/>
            <a:ext cx="18288" cy="4846320"/>
          </a:xfrm>
          <a:prstGeom prst="rect">
            <a:avLst/>
          </a:prstGeom>
          <a:solidFill>
            <a:srgbClr val="6D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11480" y="12344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Times New Roman"/>
              </a:rPr>
              <a:t>Email Authentication Standards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• RFC 7208 — SPF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How receivers check if a host may send for a domain.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https://datatracker.ietf.org/doc/html/rfc7208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• RFC 6376 — DKIM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Cryptographic signature so body/headers can be verified.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https://datatracker.ietf.org/doc/html/rfc6376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• RFC 7489 — DMARC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Policy aligning SPF/DKIM with the visible From domain.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https://datatracker.ietf.org/doc/html/rfc7489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309360" y="12344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Times New Roman"/>
              </a:rPr>
              <a:t>Threat Landscape and Practice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• CERT-In / MeitY advisories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Guidance on phishing and business email compromise in India.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https://www.cert-in.org.in/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• APWG Phishing Activity Trends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Shows volume of credential and payment fraud mail.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https://apwg.org/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Times New Roman"/>
              </a:rPr>
              <a:t>• RFC 5321 — SMTP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Mail is relayed; Received chain is servers, not a person’s house.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https://datatracker.ietf.org/doc/html/rfc5321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