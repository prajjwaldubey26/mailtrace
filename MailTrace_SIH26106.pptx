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B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B3A6"/>
                </a:solidFill>
                <a:latin typeface="Calibri"/>
              </a:rPr>
              <a:t>SMART INDIA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55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MailTrace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8A817"/>
                </a:solidFill>
                <a:latin typeface="Calibri"/>
              </a:rPr>
              <a:t>AI-Powered Email Threat Detection, GeoLocation
and Forensic Intelligence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468880"/>
            <a:ext cx="11155680" cy="475488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05456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B3A6"/>
                </a:solidFill>
                <a:latin typeface="Calibri"/>
              </a:rPr>
              <a:t>Problem Statement 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505456"/>
            <a:ext cx="7680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SIH26106  (confirm on official portal)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980944"/>
            <a:ext cx="11155680" cy="475488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B3A6"/>
                </a:solidFill>
                <a:latin typeface="Calibri"/>
              </a:rPr>
              <a:t>Problem Statement Title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017520"/>
            <a:ext cx="7680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AI-Powered Email Threat Detection, GeoLocation and Forensic Intelligence Platform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493008"/>
            <a:ext cx="11155680" cy="475488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529584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B3A6"/>
                </a:solidFill>
                <a:latin typeface="Calibri"/>
              </a:rPr>
              <a:t>Organisation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529584"/>
            <a:ext cx="7680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AICTE Cyber Security Cell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005072"/>
            <a:ext cx="11155680" cy="475488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4164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B3A6"/>
                </a:solidFill>
                <a:latin typeface="Calibri"/>
              </a:rPr>
              <a:t>PS Category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4041648"/>
            <a:ext cx="7680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Software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517136"/>
            <a:ext cx="11155680" cy="475488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55371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B3A6"/>
                </a:solidFill>
                <a:latin typeface="Calibri"/>
              </a:rPr>
              <a:t>Theme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553712"/>
            <a:ext cx="7680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[Fill from SIH portal]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029200"/>
            <a:ext cx="11155680" cy="475488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065776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B3A6"/>
                </a:solidFill>
                <a:latin typeface="Calibri"/>
              </a:rPr>
              <a:t>Team 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5065776"/>
            <a:ext cx="7680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[Fill from SIH portal]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541264"/>
            <a:ext cx="11155680" cy="475488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57784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B3A6"/>
                </a:solidFill>
                <a:latin typeface="Calibri"/>
              </a:rPr>
              <a:t>Team Name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5577840"/>
            <a:ext cx="7680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[Registered team name]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172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B3A6"/>
                </a:solidFill>
                <a:latin typeface="Calibri"/>
              </a:rPr>
              <a:t>Prototype  ·  Analyse original email  ·  Locate mail servers, not a person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1AB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B3A6"/>
                </a:solidFill>
                <a:latin typeface="Calibri"/>
              </a:rPr>
              <a:t>SIH IDEA SUBMISSION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Proposed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3749039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3749039" cy="384048"/>
          </a:xfrm>
          <a:prstGeom prst="rect">
            <a:avLst/>
          </a:prstGeom>
          <a:solidFill>
            <a:srgbClr val="1AB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Proposed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3474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C2B3A"/>
                </a:solidFill>
                <a:latin typeface="Calibri"/>
              </a:defRPr>
            </a:pPr>
            <a:r>
              <a:t>Ingest: paste Show original or upload .eml</a:t>
            </a:r>
          </a:p>
          <a:p>
            <a:pPr>
              <a:spcAft>
                <a:spcPts val="1000"/>
              </a:spcAft>
              <a:defRPr sz="1300">
                <a:solidFill>
                  <a:srgbClr val="1C2B3A"/>
                </a:solidFill>
                <a:latin typeface="Calibri"/>
              </a:defRPr>
            </a:pPr>
            <a:r>
              <a:t>Threat score 0–100 from SPF/DKIM/DMARC + scam cues (urgency, lookalike, bad URLs)</a:t>
            </a:r>
          </a:p>
          <a:p>
            <a:pPr>
              <a:spcAft>
                <a:spcPts val="1000"/>
              </a:spcAft>
              <a:defRPr sz="1300">
                <a:solidFill>
                  <a:srgbClr val="1C2B3A"/>
                </a:solidFill>
                <a:latin typeface="Calibri"/>
              </a:defRPr>
            </a:pPr>
            <a:r>
              <a:t>Labels: legitimate / suspicious / phishing-BEC</a:t>
            </a:r>
          </a:p>
          <a:p>
            <a:pPr>
              <a:spcAft>
                <a:spcPts val="1000"/>
              </a:spcAft>
              <a:defRPr sz="1300">
                <a:solidFill>
                  <a:srgbClr val="1C2B3A"/>
                </a:solidFill>
                <a:latin typeface="Calibri"/>
              </a:defRPr>
            </a:pPr>
            <a:r>
              <a:t>Map: public IPv4 hops from Received: headers</a:t>
            </a:r>
          </a:p>
          <a:p>
            <a:pPr>
              <a:spcAft>
                <a:spcPts val="1000"/>
              </a:spcAft>
              <a:defRPr sz="1300">
                <a:solidFill>
                  <a:srgbClr val="1C2B3A"/>
                </a:solidFill>
                <a:latin typeface="Calibri"/>
              </a:defRPr>
            </a:pPr>
            <a:r>
              <a:t>Forensic PDF + saved case list for SOC/admin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234440"/>
            <a:ext cx="3749039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234440"/>
            <a:ext cx="3749039" cy="38404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2801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How it addresses the 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737360"/>
            <a:ext cx="3474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C2B3A"/>
                </a:solidFill>
                <a:latin typeface="Calibri"/>
              </a:defRPr>
            </a:pPr>
            <a:r>
              <a:t>PS asks for detection + geolocation + investigative report — one laptop app</a:t>
            </a:r>
          </a:p>
          <a:p>
            <a:pPr>
              <a:spcAft>
                <a:spcPts val="1000"/>
              </a:spcAft>
              <a:defRPr sz="1300">
                <a:solidFill>
                  <a:srgbClr val="1C2B3A"/>
                </a:solidFill>
                <a:latin typeface="Calibri"/>
              </a:defRPr>
            </a:pPr>
            <a:r>
              <a:t>Same pipeline for genuine and malicious mail</a:t>
            </a:r>
          </a:p>
          <a:p>
            <a:pPr>
              <a:spcAft>
                <a:spcPts val="1000"/>
              </a:spcAft>
              <a:defRPr sz="1300">
                <a:solidFill>
                  <a:srgbClr val="1C2B3A"/>
                </a:solidFill>
                <a:latin typeface="Calibri"/>
              </a:defRPr>
            </a:pPr>
            <a:r>
              <a:t>Every point is a logged reason (not a black box)</a:t>
            </a:r>
          </a:p>
          <a:p>
            <a:pPr>
              <a:spcAft>
                <a:spcPts val="1000"/>
              </a:spcAft>
              <a:defRPr sz="1300">
                <a:solidFill>
                  <a:srgbClr val="1C2B3A"/>
                </a:solidFill>
                <a:latin typeface="Calibri"/>
              </a:defRPr>
            </a:pPr>
            <a:r>
              <a:t>User provides the message; no mailbox intrusion</a:t>
            </a:r>
          </a:p>
          <a:p>
            <a:pPr>
              <a:spcAft>
                <a:spcPts val="1000"/>
              </a:spcAft>
              <a:defRPr sz="1300">
                <a:solidFill>
                  <a:srgbClr val="1C2B3A"/>
                </a:solidFill>
                <a:latin typeface="Calibri"/>
              </a:defRPr>
            </a:pPr>
            <a:r>
              <a:t>Gmail–Gmail empty map is explained, not hidden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234440"/>
            <a:ext cx="3749039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234440"/>
            <a:ext cx="3749039" cy="384048"/>
          </a:xfrm>
          <a:prstGeom prst="rect">
            <a:avLst/>
          </a:prstGeom>
          <a:solidFill>
            <a:srgbClr val="E8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2801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Uniqueness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737360"/>
            <a:ext cx="3474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C2B3A"/>
                </a:solidFill>
                <a:latin typeface="Calibri"/>
              </a:defRPr>
            </a:pPr>
            <a:r>
              <a:t>Explainable scoring for forensics</a:t>
            </a:r>
          </a:p>
          <a:p>
            <a:pPr>
              <a:spcAft>
                <a:spcPts val="1000"/>
              </a:spcAft>
              <a:defRPr sz="1300">
                <a:solidFill>
                  <a:srgbClr val="1C2B3A"/>
                </a:solidFill>
                <a:latin typeface="Calibri"/>
              </a:defRPr>
            </a:pPr>
            <a:r>
              <a:t>Hop map + PDF in one flow</a:t>
            </a:r>
          </a:p>
          <a:p>
            <a:pPr>
              <a:spcAft>
                <a:spcPts val="1000"/>
              </a:spcAft>
              <a:defRPr sz="1300">
                <a:solidFill>
                  <a:srgbClr val="1C2B3A"/>
                </a:solidFill>
                <a:latin typeface="Calibri"/>
              </a:defRPr>
            </a:pPr>
            <a:r>
              <a:t>Honest attribution: servers / ISP, not a named person</a:t>
            </a:r>
          </a:p>
          <a:p>
            <a:pPr>
              <a:spcAft>
                <a:spcPts val="1000"/>
              </a:spcAft>
              <a:defRPr sz="1300">
                <a:solidFill>
                  <a:srgbClr val="1C2B3A"/>
                </a:solidFill>
                <a:latin typeface="Calibri"/>
              </a:defRPr>
            </a:pPr>
            <a:r>
              <a:t>Works on real Show original mails</a:t>
            </a:r>
          </a:p>
          <a:p>
            <a:pPr>
              <a:spcAft>
                <a:spcPts val="1000"/>
              </a:spcAft>
              <a:defRPr sz="1300">
                <a:solidFill>
                  <a:srgbClr val="1C2B3A"/>
                </a:solidFill>
                <a:latin typeface="Calibri"/>
              </a:defRPr>
            </a:pPr>
            <a:r>
              <a:t>Heuristic engine now; same features ready for ML later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SIH Idea submission  ·  SIH26106 MailTrace  ·  Software prototype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1AB3A6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1AB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B3A6"/>
                </a:solidFill>
                <a:latin typeface="Calibri"/>
              </a:rPr>
              <a:t>TECHNICAL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Architecture and tech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182880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80160"/>
            <a:ext cx="1828800" cy="109728"/>
          </a:xfrm>
          <a:prstGeom prst="rect">
            <a:avLst/>
          </a:prstGeom>
          <a:solidFill>
            <a:srgbClr val="1AB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630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1. 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920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C"/>
                </a:solidFill>
                <a:latin typeface="Calibri"/>
              </a:rPr>
              <a:t>Raw RFC822 / .eml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1280160"/>
            <a:ext cx="182880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0" y="1280160"/>
            <a:ext cx="1828800" cy="109728"/>
          </a:xfrm>
          <a:prstGeom prst="rect">
            <a:avLst/>
          </a:prstGeom>
          <a:solidFill>
            <a:srgbClr val="1AB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0" y="14630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2. Parse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1920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C"/>
                </a:solidFill>
                <a:latin typeface="Calibri"/>
              </a:rPr>
              <a:t>Headers, body, URLs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280160"/>
            <a:ext cx="182880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1280160"/>
            <a:ext cx="1828800" cy="109728"/>
          </a:xfrm>
          <a:prstGeom prst="rect">
            <a:avLst/>
          </a:prstGeom>
          <a:solidFill>
            <a:srgbClr val="1AB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4630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3. Auth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1920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C"/>
                </a:solidFill>
                <a:latin typeface="Calibri"/>
              </a:rPr>
              <a:t>SPF · DKIM · DMARC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280160"/>
            <a:ext cx="182880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280160"/>
            <a:ext cx="1828800" cy="109728"/>
          </a:xfrm>
          <a:prstGeom prst="rect">
            <a:avLst/>
          </a:prstGeom>
          <a:solidFill>
            <a:srgbClr val="1AB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4630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4. Heuristics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920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C"/>
                </a:solidFill>
                <a:latin typeface="Calibri"/>
              </a:rPr>
              <a:t>Cues + weights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80" y="1280160"/>
            <a:ext cx="182880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83880" y="1280160"/>
            <a:ext cx="1828800" cy="109728"/>
          </a:xfrm>
          <a:prstGeom prst="rect">
            <a:avLst/>
          </a:prstGeom>
          <a:solidFill>
            <a:srgbClr val="1AB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14630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5. Geo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1920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C"/>
                </a:solidFill>
                <a:latin typeface="Calibri"/>
              </a:rPr>
              <a:t>Public IPv4 lookup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49840" y="1280160"/>
            <a:ext cx="182880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149840" y="1280160"/>
            <a:ext cx="1828800" cy="109728"/>
          </a:xfrm>
          <a:prstGeom prst="rect">
            <a:avLst/>
          </a:prstGeom>
          <a:solidFill>
            <a:srgbClr val="1AB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0" y="14630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6. 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1920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B7C"/>
                </a:solidFill>
                <a:latin typeface="Calibri"/>
              </a:rPr>
              <a:t>Score · map · PDF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743200"/>
            <a:ext cx="5760720" cy="3611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2880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Tech stack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3246120"/>
            <a:ext cx="5394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C2B3A"/>
                </a:solidFill>
                <a:latin typeface="Calibri"/>
              </a:defRPr>
            </a:pPr>
            <a:r>
              <a:t>Python 3 · FastAPI · Uvicorn (local prototype)</a:t>
            </a:r>
          </a:p>
          <a:p>
            <a:pPr>
              <a:spcAft>
                <a:spcPts val="800"/>
              </a:spcAft>
              <a:defRPr sz="1400">
                <a:solidFill>
                  <a:srgbClr val="1C2B3A"/>
                </a:solidFill>
                <a:latin typeface="Calibri"/>
              </a:defRPr>
            </a:pPr>
            <a:r>
              <a:t>Email parser (RFC822) · rule engine for threat score</a:t>
            </a:r>
          </a:p>
          <a:p>
            <a:pPr>
              <a:spcAft>
                <a:spcPts val="800"/>
              </a:spcAft>
              <a:defRPr sz="1400">
                <a:solidFill>
                  <a:srgbClr val="1C2B3A"/>
                </a:solidFill>
                <a:latin typeface="Calibri"/>
              </a:defRPr>
            </a:pPr>
            <a:r>
              <a:t>Geo: demo IP table + optional ip-api for unknown IPs</a:t>
            </a:r>
          </a:p>
          <a:p>
            <a:pPr>
              <a:spcAft>
                <a:spcPts val="800"/>
              </a:spcAft>
              <a:defRPr sz="1400">
                <a:solidFill>
                  <a:srgbClr val="1C2B3A"/>
                </a:solidFill>
                <a:latin typeface="Calibri"/>
              </a:defRPr>
            </a:pPr>
            <a:r>
              <a:t>SQLite case store · ReportLab forensic PDF</a:t>
            </a:r>
          </a:p>
          <a:p>
            <a:pPr>
              <a:spcAft>
                <a:spcPts val="800"/>
              </a:spcAft>
              <a:defRPr sz="1400">
                <a:solidFill>
                  <a:srgbClr val="1C2B3A"/>
                </a:solidFill>
                <a:latin typeface="Calibri"/>
              </a:defRPr>
            </a:pPr>
            <a:r>
              <a:t>Leaflet + OpenStreetMap hop visualisation</a:t>
            </a:r>
          </a:p>
          <a:p>
            <a:pPr>
              <a:spcAft>
                <a:spcPts val="800"/>
              </a:spcAft>
              <a:defRPr sz="1400">
                <a:solidFill>
                  <a:srgbClr val="1C2B3A"/>
                </a:solidFill>
                <a:latin typeface="Calibri"/>
              </a:defRPr>
            </a:pPr>
            <a:r>
              <a:t>No Gmail login, no classified dataset required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2743200"/>
            <a:ext cx="5577840" cy="3611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28803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What we do not claim (by design)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246120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C2B3A"/>
                </a:solidFill>
                <a:latin typeface="Calibri"/>
              </a:defRPr>
            </a:pPr>
            <a:r>
              <a:t>Not a trained deep-learning model in this build</a:t>
            </a:r>
          </a:p>
          <a:p>
            <a:pPr>
              <a:spcAft>
                <a:spcPts val="800"/>
              </a:spcAft>
              <a:defRPr sz="1400">
                <a:solidFill>
                  <a:srgbClr val="1C2B3A"/>
                </a:solidFill>
                <a:latin typeface="Calibri"/>
              </a:defRPr>
            </a:pPr>
            <a:r>
              <a:t>Not GPS / home address of a human sender</a:t>
            </a:r>
          </a:p>
          <a:p>
            <a:pPr>
              <a:spcAft>
                <a:spcPts val="800"/>
              </a:spcAft>
              <a:defRPr sz="1400">
                <a:solidFill>
                  <a:srgbClr val="1C2B3A"/>
                </a:solidFill>
                <a:latin typeface="Calibri"/>
              </a:defRPr>
            </a:pPr>
            <a:r>
              <a:t>Not live DNS re-query of SPF (uses Authentication-Results on the mail)</a:t>
            </a:r>
          </a:p>
          <a:p>
            <a:pPr>
              <a:spcAft>
                <a:spcPts val="800"/>
              </a:spcAft>
              <a:defRPr sz="1400">
                <a:solidFill>
                  <a:srgbClr val="1C2B3A"/>
                </a:solidFill>
                <a:latin typeface="Calibri"/>
              </a:defRPr>
            </a:pPr>
            <a:r>
              <a:t>IPv6-only hops are not plotted (IPv4 public IPs only)</a:t>
            </a:r>
          </a:p>
          <a:p>
            <a:pPr>
              <a:spcAft>
                <a:spcPts val="800"/>
              </a:spcAft>
              <a:defRPr sz="1400">
                <a:solidFill>
                  <a:srgbClr val="1C2B3A"/>
                </a:solidFill>
                <a:latin typeface="Calibri"/>
              </a:defRPr>
            </a:pPr>
            <a:r>
              <a:t>Next step: classifier on the same feature vector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SIH Idea submission  ·  SIH26106 MailTrace  ·  Software prototype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1AB3A6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1AB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B3A6"/>
                </a:solidFill>
                <a:latin typeface="Calibri"/>
              </a:rPr>
              <a:t>FEASIBILITY AND VIABILITY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Challenges, risks, and how we overcome them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3703320" cy="4114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2801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Challenge / risk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234440"/>
            <a:ext cx="3703320" cy="4114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0248" y="12801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Feasibility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1234440"/>
            <a:ext cx="3703320" cy="4114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8" y="12801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How we overcome 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737360"/>
            <a:ext cx="37033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810512"/>
            <a:ext cx="3520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B3A"/>
                </a:solidFill>
                <a:latin typeface="Calibri"/>
              </a:rPr>
              <a:t>Gmail hides sender IP; IPv6-only Received lines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20" y="1737360"/>
            <a:ext cx="37033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1810512"/>
            <a:ext cx="3520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B3A"/>
                </a:solidFill>
                <a:latin typeface="Calibri"/>
              </a:rPr>
              <a:t>Expected for Gmail–Gmail; still a valid mail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1737360"/>
            <a:ext cx="37033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1810512"/>
            <a:ext cx="3520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B3A"/>
                </a:solidFill>
                <a:latin typeface="Calibri"/>
              </a:rPr>
              <a:t>Show empty map with an explicit caption; score/stamps still run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633472"/>
            <a:ext cx="3703320" cy="86868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706624"/>
            <a:ext cx="3520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B3A"/>
                </a:solidFill>
                <a:latin typeface="Calibri"/>
              </a:rPr>
              <a:t>No official SIH phishing dataset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20" y="2633472"/>
            <a:ext cx="3703320" cy="86868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2706624"/>
            <a:ext cx="3520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B3A"/>
                </a:solidFill>
                <a:latin typeface="Calibri"/>
              </a:rPr>
              <a:t>PS is software on user-provided mail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1000" y="2633472"/>
            <a:ext cx="3703320" cy="86868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2706624"/>
            <a:ext cx="3520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B3A"/>
                </a:solidFill>
                <a:latin typeface="Calibri"/>
              </a:rPr>
              <a:t>Demo with real Show original + documented lab traces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29584"/>
            <a:ext cx="37033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602736"/>
            <a:ext cx="3520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B3A"/>
                </a:solidFill>
                <a:latin typeface="Calibri"/>
              </a:rPr>
              <a:t>Judges ask “where is the AI?”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0520" y="3529584"/>
            <a:ext cx="37033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60" y="3602736"/>
            <a:ext cx="3520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B3A"/>
                </a:solidFill>
                <a:latin typeface="Calibri"/>
              </a:rPr>
              <a:t>Heuristic engine is shippable now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3529584"/>
            <a:ext cx="37033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3602736"/>
            <a:ext cx="3520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B3A"/>
                </a:solidFill>
                <a:latin typeface="Calibri"/>
              </a:rPr>
              <a:t>Explainable weighted features; ML can use the same inputs later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425696"/>
            <a:ext cx="3703320" cy="86868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498848"/>
            <a:ext cx="3520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B3A"/>
                </a:solidFill>
                <a:latin typeface="Calibri"/>
              </a:rPr>
              <a:t>CDN/font links inflate score on real newsletters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60520" y="4425696"/>
            <a:ext cx="3703320" cy="86868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51960" y="4498848"/>
            <a:ext cx="3520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B3A"/>
                </a:solidFill>
                <a:latin typeface="Calibri"/>
              </a:rPr>
              <a:t>False nits are visible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1000" y="4425696"/>
            <a:ext cx="3703320" cy="86868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92440" y="4498848"/>
            <a:ext cx="3520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B3A"/>
                </a:solidFill>
                <a:latin typeface="Calibri"/>
              </a:rPr>
              <a:t>Reason list is open; human remains in the loop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321808"/>
            <a:ext cx="37033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5394960"/>
            <a:ext cx="3520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B3A"/>
                </a:solidFill>
                <a:latin typeface="Calibri"/>
              </a:rPr>
              <a:t>Legal / ethics of tracing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60520" y="5321808"/>
            <a:ext cx="37033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51960" y="5394960"/>
            <a:ext cx="3520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B3A"/>
                </a:solidFill>
                <a:latin typeface="Calibri"/>
              </a:rPr>
              <a:t>High — analyse only pasted mail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01000" y="5321808"/>
            <a:ext cx="37033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92440" y="5394960"/>
            <a:ext cx="3520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B3A"/>
                </a:solidFill>
                <a:latin typeface="Calibri"/>
              </a:rPr>
              <a:t>Infrastructure attribution only; no identity claim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SIH Idea submission  ·  SIH26106 MailTrace  ·  Software prototype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1AB3A6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1AB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B3A6"/>
                </a:solidFill>
                <a:latin typeface="Calibri"/>
              </a:rPr>
              <a:t>IMPACT AND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Who this helps and why it matters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115214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Target audience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B3A"/>
                </a:solidFill>
                <a:latin typeface="Calibri"/>
              </a:rPr>
              <a:t>College / institute SOC and IT admin · students and staff receiving fake dean, GST, or invoice mail · CERT-style review of a single suspicious message.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697480"/>
            <a:ext cx="562356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697480"/>
            <a:ext cx="109728" cy="1691640"/>
          </a:xfrm>
          <a:prstGeom prst="rect">
            <a:avLst/>
          </a:prstGeom>
          <a:solidFill>
            <a:srgbClr val="1AB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8346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Social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4612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B3A"/>
                </a:solidFill>
                <a:latin typeface="Calibri"/>
              </a:rPr>
              <a:t>Fewer people click fake invoices or gift-card BEC. Clear “do not pay” vs “looks legitimate” in seconds.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697480"/>
            <a:ext cx="562356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697480"/>
            <a:ext cx="109728" cy="1691640"/>
          </a:xfrm>
          <a:prstGeom prst="rect">
            <a:avLst/>
          </a:prstGeom>
          <a:solidFill>
            <a:srgbClr val="1AB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8346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Operational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24612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B3A"/>
                </a:solidFill>
                <a:latin typeface="Calibri"/>
              </a:rPr>
              <a:t>One screen instead of reading raw headers. Case history + PDF for tickets and internal review.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526280"/>
            <a:ext cx="562356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526280"/>
            <a:ext cx="109728" cy="1691640"/>
          </a:xfrm>
          <a:prstGeom prst="rect">
            <a:avLst/>
          </a:prstGeom>
          <a:solidFill>
            <a:srgbClr val="1AB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6634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Trust &amp; safety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07492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B3A"/>
                </a:solidFill>
                <a:latin typeface="Calibri"/>
              </a:rPr>
              <a:t>Prototype labelled honestly. We geolocate mail servers, not a person. No credential theft, no mailbox access.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4526280"/>
            <a:ext cx="562356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4526280"/>
            <a:ext cx="109728" cy="1691640"/>
          </a:xfrm>
          <a:prstGeom prst="rect">
            <a:avLst/>
          </a:prstGeom>
          <a:solidFill>
            <a:srgbClr val="1AB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6634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National relevance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507492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B3A"/>
                </a:solidFill>
                <a:latin typeface="Calibri"/>
              </a:rPr>
              <a:t>Matches AICTE Cyber Security Cell need: threat detection + geo + forensic artefact on a laptop, no classified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SIH Idea submission  ·  SIH26106 MailTrace  ·  Software prototype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1AB3A6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1AB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B3A6"/>
                </a:solidFill>
                <a:latin typeface="Calibri"/>
              </a:rPr>
              <a:t>RESEARCH AND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Standards, advisories, and why geo ≠ identity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B3A6"/>
                </a:solidFill>
                <a:latin typeface="Calibri"/>
              </a:rPr>
              <a:t>Email authentication (core of our stamps)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B3A"/>
                </a:solidFill>
                <a:latin typeface="Calibri"/>
              </a:rPr>
              <a:t>•  RFC 7208 — Sender Policy Framework (SPF)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B3A"/>
                </a:solidFill>
                <a:latin typeface="Calibri"/>
              </a:rPr>
              <a:t>•  RFC 6376 — DomainKeys Identified Mail (DKIM)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93392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B3A"/>
                </a:solidFill>
                <a:latin typeface="Calibri"/>
              </a:rPr>
              <a:t>•  RFC 7489 — DMARC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5915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B3A6"/>
                </a:solidFill>
                <a:latin typeface="Calibri"/>
              </a:rPr>
              <a:t>Threat landscape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B3A"/>
                </a:solidFill>
                <a:latin typeface="Calibri"/>
              </a:rPr>
              <a:t>•  CERT-In / MeitY advisories on phishing and BEC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07792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B3A"/>
                </a:solidFill>
                <a:latin typeface="Calibri"/>
              </a:rPr>
              <a:t>•  APWG Phishing Activity Trends — volume of credential and payment fraud mails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7355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B3A6"/>
                </a:solidFill>
                <a:latin typeface="Calibri"/>
              </a:rPr>
              <a:t>Geolocation limits (we state these in the demo)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66160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B3A"/>
                </a:solidFill>
                <a:latin typeface="Calibri"/>
              </a:rPr>
              <a:t>•  RFC 5321 — mail is relayed; Received chain is servers, not a person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822192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B3A"/>
                </a:solidFill>
                <a:latin typeface="Calibri"/>
              </a:rPr>
              <a:t>•  Gmail / mailbox providers strip or omit origin IPv4 — empty map is expected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8795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B3A6"/>
                </a:solidFill>
                <a:latin typeface="Calibri"/>
              </a:rPr>
              <a:t>Forensic 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80560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B3A"/>
                </a:solidFill>
                <a:latin typeface="Calibri"/>
              </a:rPr>
              <a:t>•  Analyse user-provided original (Show original / .eml)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736592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B3A"/>
                </a:solidFill>
                <a:latin typeface="Calibri"/>
              </a:rPr>
              <a:t>•  Infrastructure attribution + explainable score as a decision-support artefact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806440"/>
            <a:ext cx="11430000" cy="6583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897880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Demo: paste Show original → banner + stamps + reasons + map + PDF.  Prototype.  Servers, not a person.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SIH Idea submission  ·  SIH26106 MailTrace  ·  Software prototype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1AB3A6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